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Consumo observado</c:v>
                </c:pt>
              </c:strCache>
            </c:strRef>
          </c:tx>
          <c:spPr>
            <a:solidFill>
              <a:srgbClr val="1B2A4A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42</c:v>
                </c:pt>
                <c:pt idx="1">
                  <c:v>48</c:v>
                </c:pt>
                <c:pt idx="2">
                  <c:v>47</c:v>
                </c:pt>
                <c:pt idx="3">
                  <c:v>55</c:v>
                </c:pt>
                <c:pt idx="4">
                  <c:v>60</c:v>
                </c:pt>
                <c:pt idx="5">
                  <c:v>58</c:v>
                </c:pt>
                <c:pt idx="6">
                  <c:v>67</c:v>
                </c:pt>
                <c:pt idx="7">
                  <c:v>72</c:v>
                </c:pt>
                <c:pt idx="8">
                  <c:v>78</c:v>
                </c:pt>
                <c:pt idx="9">
                  <c:v>83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1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7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7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B8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Histórico</c:v>
                </c:pt>
              </c:strCache>
            </c:strRef>
          </c:tx>
          <c:spPr>
            <a:solidFill>
              <a:srgbClr val="1B2A4A"/>
            </a:solidFill>
            <a:ln w="38100" cap="flat">
              <a:solidFill>
                <a:srgbClr val="1B2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2025*</c:v>
                  </c:pt>
                  <c:pt idx="5">
                    <c:v>2026*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</c:v>
                </c:pt>
                <c:pt idx="1">
                  <c:v>61</c:v>
                </c:pt>
                <c:pt idx="2">
                  <c:v>69</c:v>
                </c:pt>
                <c:pt idx="3">
                  <c:v>76</c:v>
                </c:pt>
                <c:pt idx="4">
                  <c:v/>
                </c:pt>
                <c:pt idx="5">
                  <c:v/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Previsão (Prophet)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2025*</c:v>
                  </c:pt>
                  <c:pt idx="5">
                    <c:v>2026*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76</c:v>
                </c:pt>
                <c:pt idx="4">
                  <c:v>84</c:v>
                </c:pt>
                <c:pt idx="5">
                  <c:v>91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7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7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B8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Uso por grupo clínico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bubble3D val="0"/>
            <c:spPr>
              <a:solidFill>
                <a:srgbClr val="1F7A8C"/>
              </a:solidFill>
              <a:effectLst/>
            </c:spPr>
          </c:dPt>
          <c:dPt>
            <c:idx val="3"/>
            <c:bubble3D val="0"/>
            <c:spPr>
              <a:solidFill>
                <a:srgbClr val="1F3FB3"/>
              </a:solidFill>
              <a:effectLst/>
            </c:spPr>
          </c:dPt>
          <c:dPt>
            <c:idx val="4"/>
            <c:bubble3D val="0"/>
            <c:spPr>
              <a:solidFill>
                <a:srgbClr val="7D1F8C"/>
              </a:solidFill>
              <a:effectLst/>
            </c:spPr>
          </c:dPt>
          <c:dPt>
            <c:idx val="5"/>
            <c:bubble3D val="0"/>
            <c:spPr>
              <a:solidFill>
                <a:srgbClr val="D157A8"/>
              </a:solidFill>
              <a:effectLst/>
            </c:spPr>
          </c:dPt>
          <c:dPt>
            <c:idx val="6"/>
            <c:bubble3D val="0"/>
            <c:spPr>
              <a:solidFill>
                <a:srgbClr val="7E6CCB"/>
              </a:solidFill>
              <a:effectLst/>
            </c:spPr>
          </c:dPt>
          <c:dPt>
            <c:idx val="7"/>
            <c:bubble3D val="0"/>
            <c:spPr>
              <a:solidFill>
                <a:srgbClr val="E9B40F"/>
              </a:solidFill>
              <a:effectLst/>
            </c:spPr>
          </c:dPt>
          <c:dPt>
            <c:idx val="8"/>
            <c:bubble3D val="0"/>
            <c:spPr>
              <a:solidFill>
                <a:srgbClr val="E8743B"/>
              </a:solidFill>
              <a:effectLst/>
            </c:spPr>
          </c:dPt>
          <c:dPt>
            <c:idx val="9"/>
            <c:bubble3D val="0"/>
            <c:spPr>
              <a:solidFill>
                <a:srgbClr val="2E9BE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Transtorno Obsessivo-Compulsivo (TOC)</c:v>
                </c:pt>
                <c:pt idx="1">
                  <c:v>Transtorno Depressivo Maior (TDM)</c:v>
                </c:pt>
                <c:pt idx="2">
                  <c:v>Transtorno Depressivo Persistente (Distimia)</c:v>
                </c:pt>
                <c:pt idx="3">
                  <c:v>Depressão Pós-COVID (Long COVID psiquiátrico)</c:v>
                </c:pt>
                <c:pt idx="4">
                  <c:v>Síndrome do Pânico (Transtorno de Pânico)</c:v>
                </c:pt>
                <c:pt idx="5">
                  <c:v>Transtorno Afetivo Bipolar (TAB)</c:v>
                </c:pt>
                <c:pt idx="6">
                  <c:v>Transtorno de Ansiedade Generalizada (TAG)</c:v>
                </c:pt>
                <c:pt idx="7">
                  <c:v>Transtorno de Estresse Pós-Traumático (TEPT)</c:v>
                </c:pt>
                <c:pt idx="8">
                  <c:v>Insônia Primária / Transtorno do Sono</c:v>
                </c:pt>
                <c:pt idx="9">
                  <c:v>Ansiedade em Adolescentes (10-19 anos)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70</c:v>
                </c:pt>
                <c:pt idx="1">
                  <c:v>68</c:v>
                </c:pt>
                <c:pt idx="2">
                  <c:v>60</c:v>
                </c:pt>
                <c:pt idx="3">
                  <c:v>55</c:v>
                </c:pt>
                <c:pt idx="4">
                  <c:v>55</c:v>
                </c:pt>
                <c:pt idx="5">
                  <c:v>55</c:v>
                </c:pt>
                <c:pt idx="6">
                  <c:v>42</c:v>
                </c:pt>
                <c:pt idx="7">
                  <c:v>35</c:v>
                </c:pt>
                <c:pt idx="8">
                  <c:v>28</c:v>
                </c:pt>
                <c:pt idx="9">
                  <c:v>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wav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4" name="Image 1" descr="/home/claude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1131570"/>
            <a:ext cx="434340" cy="4343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BIG DATA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2296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 de Antidepressivos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Pós-Pandemia</a:t>
            </a:r>
            <a:endParaRPr lang="en-US" sz="5000" dirty="0"/>
          </a:p>
        </p:txBody>
      </p:sp>
      <p:sp>
        <p:nvSpPr>
          <p:cNvPr id="7" name="Text 3"/>
          <p:cNvSpPr/>
          <p:nvPr/>
        </p:nvSpPr>
        <p:spPr>
          <a:xfrm>
            <a:off x="868680" y="4160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 sobre o impacto psicológico da pandemia no consumo de medicamentos psiquiátricos no Brasil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68680" y="5715000"/>
            <a:ext cx="3108960" cy="0"/>
          </a:xfrm>
          <a:prstGeom prst="line">
            <a:avLst/>
          </a:prstGeom>
          <a:noFill/>
          <a:ln w="12700">
            <a:solidFill>
              <a:srgbClr val="8FA8D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5852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de Objetivos do Trabalho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estudar este tema?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pandemia de COVID-19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provocou efeitos profundos na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mental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população. Isolamento social, incertezas econômicas e luto coletivo contribuíram para o aumento de quadros de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e depressão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e, com eles, uma maior procura por medicamentos psiquiátricos.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como esse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evoluiu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quem são os principais usuários e quais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desenham para o futuro é essencial para orientar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públicas de saúde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É exatamente esse fenômeno que nosso projeto investiga com técnicas de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1600200"/>
            <a:ext cx="46634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0" y="1600200"/>
            <a:ext cx="73152" cy="1143000"/>
          </a:xfrm>
          <a:prstGeom prst="rect">
            <a:avLst/>
          </a:prstGeom>
          <a:solidFill>
            <a:srgbClr val="8FA8D8"/>
          </a:solidFill>
          <a:ln/>
        </p:spPr>
      </p:sp>
      <p:sp>
        <p:nvSpPr>
          <p:cNvPr id="8" name="Shape 6"/>
          <p:cNvSpPr/>
          <p:nvPr/>
        </p:nvSpPr>
        <p:spPr>
          <a:xfrm>
            <a:off x="6903720" y="1874520"/>
            <a:ext cx="594360" cy="59436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9" name="Image 0" descr="/home/claude/icons/pill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6366" y="2017166"/>
            <a:ext cx="309067" cy="30906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80960" y="2148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na venda de psicofármacos no período pós-pandemia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75120" y="2898648"/>
            <a:ext cx="46634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75120" y="2898648"/>
            <a:ext cx="73152" cy="1143000"/>
          </a:xfrm>
          <a:prstGeom prst="rect">
            <a:avLst/>
          </a:prstGeom>
          <a:solidFill>
            <a:srgbClr val="8FA8D8"/>
          </a:solidFill>
          <a:ln/>
        </p:spPr>
      </p:sp>
      <p:sp>
        <p:nvSpPr>
          <p:cNvPr id="14" name="Shape 11"/>
          <p:cNvSpPr/>
          <p:nvPr/>
        </p:nvSpPr>
        <p:spPr>
          <a:xfrm>
            <a:off x="6903720" y="3172968"/>
            <a:ext cx="594360" cy="59436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15" name="Image 1" descr="/home/claude/icons/brai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366" y="3315614"/>
            <a:ext cx="309067" cy="30906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80960" y="3081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Mental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680960" y="34472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quadros de ansiedade e depressão na população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675120" y="4197096"/>
            <a:ext cx="46634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675120" y="4197096"/>
            <a:ext cx="73152" cy="1143000"/>
          </a:xfrm>
          <a:prstGeom prst="rect">
            <a:avLst/>
          </a:prstGeom>
          <a:solidFill>
            <a:srgbClr val="8FA8D8"/>
          </a:solidFill>
          <a:ln/>
        </p:spPr>
      </p:sp>
      <p:sp>
        <p:nvSpPr>
          <p:cNvPr id="20" name="Shape 16"/>
          <p:cNvSpPr/>
          <p:nvPr/>
        </p:nvSpPr>
        <p:spPr>
          <a:xfrm>
            <a:off x="6903720" y="4471416"/>
            <a:ext cx="594360" cy="59436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21" name="Image 2" descr="/home/claude/icons/us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366" y="4614062"/>
            <a:ext cx="309067" cy="30906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680960" y="43799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680960" y="47457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grupos demográficos afetados de formas distintas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3230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wav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PROPÓSITO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8412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do Projeto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1920240"/>
            <a:ext cx="3502152" cy="3566160"/>
          </a:xfrm>
          <a:prstGeom prst="rect">
            <a:avLst/>
          </a:prstGeom>
          <a:solidFill>
            <a:srgbClr val="22335A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920240"/>
            <a:ext cx="3502152" cy="914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2286000"/>
            <a:ext cx="868680" cy="868680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8" name="Image 1" descr="/home/claude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170" y="2503170"/>
            <a:ext cx="434340" cy="4343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333756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uso de antidepressivos pós-pandemia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143000" y="434340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e estudar dados para entender o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psicológico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pandemia no consumo de medicamentos.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608576" y="1920240"/>
            <a:ext cx="3502152" cy="3566160"/>
          </a:xfrm>
          <a:prstGeom prst="rect">
            <a:avLst/>
          </a:prstGeom>
          <a:solidFill>
            <a:srgbClr val="22335A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08576" y="1920240"/>
            <a:ext cx="3502152" cy="914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Shape 9"/>
          <p:cNvSpPr/>
          <p:nvPr/>
        </p:nvSpPr>
        <p:spPr>
          <a:xfrm>
            <a:off x="4928616" y="2286000"/>
            <a:ext cx="868680" cy="868680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14" name="Image 2" descr="/home/claude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786" y="2503170"/>
            <a:ext cx="434340" cy="4343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28616" y="333756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perfis demográficos dos usuários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928616" y="434340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as características das pessoas que utilizam antidepressivos —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idade, gênero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fatores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socioeconômicos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394192" y="1920240"/>
            <a:ext cx="3502152" cy="3566160"/>
          </a:xfrm>
          <a:prstGeom prst="rect">
            <a:avLst/>
          </a:prstGeom>
          <a:solidFill>
            <a:srgbClr val="22335A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94192" y="1920240"/>
            <a:ext cx="3502152" cy="914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Shape 14"/>
          <p:cNvSpPr/>
          <p:nvPr/>
        </p:nvSpPr>
        <p:spPr>
          <a:xfrm>
            <a:off x="8714232" y="2286000"/>
            <a:ext cx="868680" cy="868680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20" name="Image 3" descr="/home/claude/icons/bal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402" y="2503170"/>
            <a:ext cx="434340" cy="4343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14232" y="333756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dados antes e depois da pandemia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714232" y="434340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Examinar as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no consumo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medicamentos entre os períodos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 e pós-pandemia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13230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DA PESQUISA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3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 de Dados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oficiais e estudos acadêmicos garantem a credibilidade da análise.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074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77440"/>
            <a:ext cx="868680" cy="86868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7" name="Image 0" descr="/home/claude/icons/flas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483" y="258592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2404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FIOCRUZ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937760" y="2350008"/>
            <a:ext cx="713232" cy="329184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235000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40280" y="28803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sobre o impacto da pandemia na saúde mental dos brasileiros.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2057400"/>
            <a:ext cx="5074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377440"/>
            <a:ext cx="868680" cy="86868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14" name="Image 1" descr="/home/claude/icons/pill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163" y="2585923"/>
            <a:ext cx="451714" cy="4517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80960" y="2404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CFF / IQVIA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10378440" y="2350008"/>
            <a:ext cx="713232" cy="329184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</p:sp>
      <p:sp>
        <p:nvSpPr>
          <p:cNvPr id="17" name="Text 13"/>
          <p:cNvSpPr/>
          <p:nvPr/>
        </p:nvSpPr>
        <p:spPr>
          <a:xfrm>
            <a:off x="10378440" y="235000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680960" y="28803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Conselho Federal de Farmácia e da IQVIA sobre vendas de medicamentos psiquiátricos.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22960" y="4114800"/>
            <a:ext cx="5074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143000" y="4434840"/>
            <a:ext cx="868680" cy="86868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21" name="Image 2" descr="/home/claude/icons/boo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" y="4643323"/>
            <a:ext cx="451714" cy="45171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240280" y="4462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Correia, R. de M. et al.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4937760" y="4407408"/>
            <a:ext cx="713232" cy="329184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</p:sp>
      <p:sp>
        <p:nvSpPr>
          <p:cNvPr id="24" name="Text 19"/>
          <p:cNvSpPr/>
          <p:nvPr/>
        </p:nvSpPr>
        <p:spPr>
          <a:xfrm>
            <a:off x="4937760" y="440740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2240280" y="49377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comparativa do uso de psicofármacos nos períodos pré e pós-pandemia.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263640" y="4114800"/>
            <a:ext cx="5074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583680" y="4434840"/>
            <a:ext cx="868680" cy="86868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28" name="Image 3" descr="/home/claude/icons/fi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163" y="4643323"/>
            <a:ext cx="451714" cy="45171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680960" y="4462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Boaviagem &amp; Nogueira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10378440" y="4407408"/>
            <a:ext cx="713232" cy="329184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</p:sp>
      <p:sp>
        <p:nvSpPr>
          <p:cNvPr id="31" name="Text 25"/>
          <p:cNvSpPr/>
          <p:nvPr/>
        </p:nvSpPr>
        <p:spPr>
          <a:xfrm>
            <a:off x="10378440" y="440740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680960" y="49377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demográfica e socioeconômica do uso e do acesso a antidepressivos no Brasil.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13230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wav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CONSTRUIR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de Dados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</a:t>
            </a:r>
            <a:pPr indent="0" marL="0">
              <a:buNone/>
            </a:pPr>
            <a:r>
              <a:rPr lang="en-US" sz="13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pPr indent="0" marL="0">
              <a:buNone/>
            </a:pPr>
            <a:r>
              <a:rPr lang="en-US" sz="1350" i="1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pipeline, tratamento e </a:t>
            </a:r>
            <a:pPr indent="0" marL="0">
              <a:buNone/>
            </a:pPr>
            <a:r>
              <a:rPr lang="en-US" sz="13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pPr indent="0" marL="0">
              <a:buNone/>
            </a:pPr>
            <a:r>
              <a:rPr lang="en-US" sz="1350" i="1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acontece no </a:t>
            </a:r>
            <a:pPr indent="0" marL="0">
              <a:buNone/>
            </a:pPr>
            <a:r>
              <a:rPr lang="en-US" sz="13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pPr indent="0" marL="0">
              <a:buNone/>
            </a:pPr>
            <a:r>
              <a:rPr lang="en-US" sz="1350" i="1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 Power BI exibe os resultados.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8549640" cy="4160520"/>
          </a:xfrm>
          <a:prstGeom prst="rect">
            <a:avLst/>
          </a:prstGeom>
          <a:solidFill>
            <a:srgbClr val="22335A"/>
          </a:solidFill>
          <a:ln w="12700">
            <a:solidFill>
              <a:srgbClr val="8FA8D8"/>
            </a:solidFill>
            <a:prstDash val="solid"/>
          </a:ln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83080"/>
            <a:ext cx="8549640" cy="914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Shape 5"/>
          <p:cNvSpPr/>
          <p:nvPr/>
        </p:nvSpPr>
        <p:spPr>
          <a:xfrm>
            <a:off x="1097280" y="2075688"/>
            <a:ext cx="658368" cy="658368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9" name="Image 1" descr="/home/claude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224028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2075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Cluster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920240" y="2441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processamento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955280" y="21671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097280" y="3017520"/>
            <a:ext cx="2542032" cy="2697480"/>
          </a:xfrm>
          <a:prstGeom prst="rect">
            <a:avLst/>
          </a:prstGeom>
          <a:solidFill>
            <a:srgbClr val="2C4068"/>
          </a:solidFill>
          <a:ln/>
        </p:spPr>
      </p:sp>
      <p:sp>
        <p:nvSpPr>
          <p:cNvPr id="14" name="Shape 10"/>
          <p:cNvSpPr/>
          <p:nvPr/>
        </p:nvSpPr>
        <p:spPr>
          <a:xfrm>
            <a:off x="1353312" y="3273552"/>
            <a:ext cx="621792" cy="621792"/>
          </a:xfrm>
          <a:prstGeom prst="ellipse">
            <a:avLst/>
          </a:prstGeom>
          <a:solidFill>
            <a:srgbClr val="22335A"/>
          </a:solidFill>
          <a:ln/>
        </p:spPr>
      </p:sp>
      <p:pic>
        <p:nvPicPr>
          <p:cNvPr id="15" name="Image 2" descr="/home/claude/icons/pipe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342900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53312" y="400507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53312" y="4590288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transporta os dados das fontes para o ambiente.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867912" y="3017520"/>
            <a:ext cx="2542032" cy="2697480"/>
          </a:xfrm>
          <a:prstGeom prst="rect">
            <a:avLst/>
          </a:prstGeom>
          <a:solidFill>
            <a:srgbClr val="2C4068"/>
          </a:solidFill>
          <a:ln/>
        </p:spPr>
      </p:sp>
      <p:sp>
        <p:nvSpPr>
          <p:cNvPr id="19" name="Shape 14"/>
          <p:cNvSpPr/>
          <p:nvPr/>
        </p:nvSpPr>
        <p:spPr>
          <a:xfrm>
            <a:off x="4123944" y="3273552"/>
            <a:ext cx="621792" cy="621792"/>
          </a:xfrm>
          <a:prstGeom prst="ellipse">
            <a:avLst/>
          </a:prstGeom>
          <a:solidFill>
            <a:srgbClr val="22335A"/>
          </a:solidFill>
          <a:ln/>
        </p:spPr>
      </p:sp>
      <p:pic>
        <p:nvPicPr>
          <p:cNvPr id="20" name="Image 3" descr="/home/claude/icons/cle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342900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123944" y="400507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Dados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123944" y="4590288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dados para análise.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638544" y="3017520"/>
            <a:ext cx="2542032" cy="2697480"/>
          </a:xfrm>
          <a:prstGeom prst="rect">
            <a:avLst/>
          </a:prstGeom>
          <a:solidFill>
            <a:srgbClr val="2C4068"/>
          </a:solidFill>
          <a:ln/>
        </p:spPr>
      </p:sp>
      <p:sp>
        <p:nvSpPr>
          <p:cNvPr id="24" name="Shape 18"/>
          <p:cNvSpPr/>
          <p:nvPr/>
        </p:nvSpPr>
        <p:spPr>
          <a:xfrm>
            <a:off x="6894576" y="3273552"/>
            <a:ext cx="621792" cy="621792"/>
          </a:xfrm>
          <a:prstGeom prst="ellipse">
            <a:avLst/>
          </a:prstGeom>
          <a:solidFill>
            <a:srgbClr val="22335A"/>
          </a:solidFill>
          <a:ln/>
        </p:spPr>
      </p:sp>
      <p:pic>
        <p:nvPicPr>
          <p:cNvPr id="25" name="Image 4" descr="/home/claude/icons/m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024" y="3429000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94576" y="4005072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894576" y="4590288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identificam padrões e preveem tendências.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3593592" y="3931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6364224" y="3931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9372600" y="3566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31" name="Shape 24"/>
          <p:cNvSpPr/>
          <p:nvPr/>
        </p:nvSpPr>
        <p:spPr>
          <a:xfrm>
            <a:off x="9857232" y="1783080"/>
            <a:ext cx="1892808" cy="4160520"/>
          </a:xfrm>
          <a:prstGeom prst="rect">
            <a:avLst/>
          </a:prstGeom>
          <a:solidFill>
            <a:srgbClr val="22335A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9857232" y="1783080"/>
            <a:ext cx="1892808" cy="914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3" name="Shape 26"/>
          <p:cNvSpPr/>
          <p:nvPr/>
        </p:nvSpPr>
        <p:spPr>
          <a:xfrm>
            <a:off x="10131552" y="2148840"/>
            <a:ext cx="731520" cy="731520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34" name="Image 5" descr="/home/claude/icons/powerb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233172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131552" y="301752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131552" y="329184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10131552" y="374904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visualizações interativas dos resultados.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113230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PRINCIPAIS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3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Databricks &amp; Power BI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plataformas que sustentam o processamento e a visualização dos dados.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257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5257800" cy="91440"/>
          </a:xfrm>
          <a:prstGeom prst="rect">
            <a:avLst/>
          </a:prstGeom>
          <a:solidFill>
            <a:srgbClr val="8FA8D8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468880"/>
            <a:ext cx="914400" cy="91440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8" name="Image 0" descr="/home/claude/icons/serv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68833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3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Databricks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28600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DADOS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88720" y="36118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análise de dados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nuvem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construída sobre o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Reúne num só ambiente o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grandes volumes de dados e a execução de código.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4983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projeto: 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rodam todos aqui dentro.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92240" y="2103120"/>
            <a:ext cx="5257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92240" y="2103120"/>
            <a:ext cx="5257800" cy="91440"/>
          </a:xfrm>
          <a:prstGeom prst="rect">
            <a:avLst/>
          </a:prstGeom>
          <a:solidFill>
            <a:srgbClr val="8FA8D8"/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0" y="2468880"/>
            <a:ext cx="914400" cy="91440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16" name="Image 1" descr="/home/claude/icons/powerbi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456" y="2688336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95528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3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795528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DE DADOS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858000" y="36118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da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análise e visualização de dados. Permite criar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relatórios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interativos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transformam dados em gráficos de fácil leitura.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858000" y="4983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projeto: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conecta-se aos dados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tratados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apresentar os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forma visual e dinâmica.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113230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APLICADA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3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no Projeto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53619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Usaremos algoritmos de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máquina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ir além da descrição dos dados: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padrões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ocultos e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 o comportamento futuro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consumo de antidepressivos. Duas bibliotecas se complementam nessa missão.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525780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5257800" cy="91440"/>
          </a:xfrm>
          <a:prstGeom prst="rect">
            <a:avLst/>
          </a:prstGeom>
          <a:solidFill>
            <a:srgbClr val="8FA8D8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3063240"/>
            <a:ext cx="914400" cy="91440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8" name="Image 0" descr="/home/claude/icons/m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328269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3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Scikit-learn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286000" y="3584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PADRÕES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88720" y="41605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Machine Learning para análise de dados e modelos preditivos. No projeto, identifica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analisa o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 uso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medicamentos após a pandemia, aplicando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linear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92240" y="2697480"/>
            <a:ext cx="525780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0" y="2697480"/>
            <a:ext cx="5257800" cy="91440"/>
          </a:xfrm>
          <a:prstGeom prst="rect">
            <a:avLst/>
          </a:prstGeom>
          <a:solidFill>
            <a:srgbClr val="8FA8D8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0" y="3063240"/>
            <a:ext cx="914400" cy="91440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15" name="Image 1" descr="/home/claude/icons/tren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456" y="3282696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95528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3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Prophet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7955280" y="3584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TENDÊNCIAS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858000" y="41605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voltada à previsão de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temporais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Será usada para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tendências futuras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consumo de medicamentos controlados, com base nos dados do período pós-pandemia.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13230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wav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EM FOCO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Regressão Linear?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17830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estatística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descreve a relação entre variáveis traçando a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“melhor linha reta”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os dados. Essa linha resume a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geral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permite estimar valores.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3063240"/>
            <a:ext cx="548640" cy="548640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7" name="Image 1" descr="/home/claude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2004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3044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a tendência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508760" y="33558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se o consumo cresce, cai ou permanece estável ao longo do tempo.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11" name="Image 2" descr="/home/claude/icons/tr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062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4050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intensidade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508760" y="43616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Quantifica quão forte é essa relação entre tempo e consumo.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22960" y="5074920"/>
            <a:ext cx="548640" cy="548640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15" name="Image 3" descr="/home/claude/icons/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21208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5056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estimar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508760" y="53675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 valores aproximados de consumo a partir da linha encontrada.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00800" y="1783080"/>
            <a:ext cx="493776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629400" y="1965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antidepressivos ao longo do tempo (ilustrativo)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537960" y="2377440"/>
          <a:ext cx="47091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1" name="Shape 14"/>
          <p:cNvSpPr/>
          <p:nvPr/>
        </p:nvSpPr>
        <p:spPr>
          <a:xfrm>
            <a:off x="7413290" y="4024498"/>
            <a:ext cx="3351692" cy="-1259677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178040" y="2715768"/>
            <a:ext cx="32004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543800" y="2578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(regressão)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3230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EM FOCO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3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Previsão de Séries Temporais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2064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prevista de consumo (ilustrativo)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0" y="2377440"/>
          <a:ext cx="49377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55080" y="19202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Prophet é uma biblioteca de previsão de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temporais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Ela aprende com o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histórico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dados — incluindo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 e sazonalidades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para projetar o consumo futuro de medicamentos controlados.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55080" y="3520440"/>
            <a:ext cx="548640" cy="54864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9" name="Image 0" descr="/home/claude/icons/calenda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754" y="365211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35021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com o passado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040880" y="38130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 histórico pós-pandemia como base para as projeções.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355080" y="4361688"/>
            <a:ext cx="548640" cy="54864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13" name="Image 1" descr="/home/claude/icons/tren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54" y="4493362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4343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 o futuro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040880" y="46542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tendências de consumo para os próximos períodos.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55080" y="5202936"/>
            <a:ext cx="548640" cy="54864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17" name="Image 2" descr="/home/claude/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754" y="5334610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5184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 decisões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040880" y="54955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antecipar demanda e orientar políticas de saúde.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91440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valores projetados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230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Preliminar no Power BI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do </a:t>
            </a:r>
            <a:pPr indent="0" marL="0">
              <a:buNone/>
            </a:pPr>
            <a:r>
              <a:rPr lang="en-US" sz="1400" b="1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antidepressivos</a:t>
            </a:r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</a:t>
            </a:r>
            <a:pPr indent="0" marL="0">
              <a:buNone/>
            </a:pPr>
            <a:r>
              <a:rPr lang="en-US" sz="1400" b="1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clínico</a:t>
            </a:r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(dados de teste).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78308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064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CLÍNICO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06440" y="2322576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5"/>
          <p:cNvSpPr/>
          <p:nvPr/>
        </p:nvSpPr>
        <p:spPr>
          <a:xfrm>
            <a:off x="6080760" y="22494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Obsessivo-Compulsivo (TOC)  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(70 · 14,4%)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06440" y="271576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6080760" y="26426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Depressivo Maior (TDM)  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(68 · 14,0%)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06440" y="3108960"/>
            <a:ext cx="146304" cy="146304"/>
          </a:xfrm>
          <a:prstGeom prst="ellipse">
            <a:avLst/>
          </a:prstGeom>
          <a:solidFill>
            <a:srgbClr val="1F7A8C"/>
          </a:solidFill>
          <a:ln/>
        </p:spPr>
      </p:sp>
      <p:sp>
        <p:nvSpPr>
          <p:cNvPr id="12" name="Text 9"/>
          <p:cNvSpPr/>
          <p:nvPr/>
        </p:nvSpPr>
        <p:spPr>
          <a:xfrm>
            <a:off x="6080760" y="30358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Depressivo Persistente (Distimia)  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 · 12,3%)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06440" y="3502152"/>
            <a:ext cx="146304" cy="146304"/>
          </a:xfrm>
          <a:prstGeom prst="ellipse">
            <a:avLst/>
          </a:prstGeom>
          <a:solidFill>
            <a:srgbClr val="1F3FB3"/>
          </a:solidFill>
          <a:ln/>
        </p:spPr>
      </p:sp>
      <p:sp>
        <p:nvSpPr>
          <p:cNvPr id="14" name="Text 11"/>
          <p:cNvSpPr/>
          <p:nvPr/>
        </p:nvSpPr>
        <p:spPr>
          <a:xfrm>
            <a:off x="6080760" y="34290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Pós-COVID (Long COVID psiquiátrico)  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(55 · 11,3%)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06440" y="3895344"/>
            <a:ext cx="146304" cy="146304"/>
          </a:xfrm>
          <a:prstGeom prst="ellipse">
            <a:avLst/>
          </a:prstGeom>
          <a:solidFill>
            <a:srgbClr val="7D1F8C"/>
          </a:solidFill>
          <a:ln/>
        </p:spPr>
      </p:sp>
      <p:sp>
        <p:nvSpPr>
          <p:cNvPr id="16" name="Text 13"/>
          <p:cNvSpPr/>
          <p:nvPr/>
        </p:nvSpPr>
        <p:spPr>
          <a:xfrm>
            <a:off x="6080760" y="382219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Síndrome do Pânico (Transtorno de Pânico)  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(55 · 11,3%)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06440" y="4288536"/>
            <a:ext cx="146304" cy="146304"/>
          </a:xfrm>
          <a:prstGeom prst="ellipse">
            <a:avLst/>
          </a:prstGeom>
          <a:solidFill>
            <a:srgbClr val="D157A8"/>
          </a:solidFill>
          <a:ln/>
        </p:spPr>
      </p:sp>
      <p:sp>
        <p:nvSpPr>
          <p:cNvPr id="18" name="Text 15"/>
          <p:cNvSpPr/>
          <p:nvPr/>
        </p:nvSpPr>
        <p:spPr>
          <a:xfrm>
            <a:off x="6080760" y="421538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Afetivo Bipolar (TAB)  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(55 · 11,3%)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806440" y="4681728"/>
            <a:ext cx="146304" cy="146304"/>
          </a:xfrm>
          <a:prstGeom prst="ellipse">
            <a:avLst/>
          </a:prstGeom>
          <a:solidFill>
            <a:srgbClr val="7E6CCB"/>
          </a:solidFill>
          <a:ln/>
        </p:spPr>
      </p:sp>
      <p:sp>
        <p:nvSpPr>
          <p:cNvPr id="20" name="Text 17"/>
          <p:cNvSpPr/>
          <p:nvPr/>
        </p:nvSpPr>
        <p:spPr>
          <a:xfrm>
            <a:off x="6080760" y="46085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de Ansiedade Generalizada (TAG)  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(42 · 8,6%)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806440" y="5074920"/>
            <a:ext cx="146304" cy="146304"/>
          </a:xfrm>
          <a:prstGeom prst="ellipse">
            <a:avLst/>
          </a:prstGeom>
          <a:solidFill>
            <a:srgbClr val="E9B40F"/>
          </a:solidFill>
          <a:ln/>
        </p:spPr>
      </p:sp>
      <p:sp>
        <p:nvSpPr>
          <p:cNvPr id="22" name="Text 19"/>
          <p:cNvSpPr/>
          <p:nvPr/>
        </p:nvSpPr>
        <p:spPr>
          <a:xfrm>
            <a:off x="6080760" y="50017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de Estresse Pós-Traumático (TEPT)  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(35 · 7,2%)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806440" y="5468112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4" name="Text 21"/>
          <p:cNvSpPr/>
          <p:nvPr/>
        </p:nvSpPr>
        <p:spPr>
          <a:xfrm>
            <a:off x="6080760" y="53949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Insônia Primária / Transtorno do Sono  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 · 5,8%)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806440" y="5861304"/>
            <a:ext cx="146304" cy="146304"/>
          </a:xfrm>
          <a:prstGeom prst="ellipse">
            <a:avLst/>
          </a:prstGeom>
          <a:solidFill>
            <a:srgbClr val="2E9BE6"/>
          </a:solidFill>
          <a:ln/>
        </p:spPr>
      </p:sp>
      <p:sp>
        <p:nvSpPr>
          <p:cNvPr id="26" name="Text 23"/>
          <p:cNvSpPr/>
          <p:nvPr/>
        </p:nvSpPr>
        <p:spPr>
          <a:xfrm>
            <a:off x="6080760" y="578815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em Adolescentes (10-19 anos)  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 · 3,7%)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13230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wav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 ACONTECER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Divisão de Trabalho na Equipe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1965960"/>
            <a:ext cx="3502152" cy="1627632"/>
          </a:xfrm>
          <a:prstGeom prst="rect">
            <a:avLst/>
          </a:prstGeom>
          <a:solidFill>
            <a:srgbClr val="22335A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965960"/>
            <a:ext cx="73152" cy="16276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4"/>
          <p:cNvSpPr/>
          <p:nvPr/>
        </p:nvSpPr>
        <p:spPr>
          <a:xfrm>
            <a:off x="1115568" y="2258568"/>
            <a:ext cx="777240" cy="777240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8" name="Image 1" descr="/home/claude/icons/powerb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878" y="2452878"/>
            <a:ext cx="388620" cy="3886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57400" y="225856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Gusmão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057400" y="2642616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115568" y="304495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de dados e dashboards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08576" y="1965960"/>
            <a:ext cx="3502152" cy="1627632"/>
          </a:xfrm>
          <a:prstGeom prst="rect">
            <a:avLst/>
          </a:prstGeom>
          <a:solidFill>
            <a:srgbClr val="22335A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08576" y="1965960"/>
            <a:ext cx="73152" cy="16276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Shape 10"/>
          <p:cNvSpPr/>
          <p:nvPr/>
        </p:nvSpPr>
        <p:spPr>
          <a:xfrm>
            <a:off x="4901184" y="2258568"/>
            <a:ext cx="777240" cy="777240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15" name="Image 2" descr="/home/claude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494" y="2452878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43016" y="225856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 Laranjeira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843016" y="2642616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901184" y="304495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 processamento de dados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394192" y="1965960"/>
            <a:ext cx="3502152" cy="1627632"/>
          </a:xfrm>
          <a:prstGeom prst="rect">
            <a:avLst/>
          </a:prstGeom>
          <a:solidFill>
            <a:srgbClr val="22335A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94192" y="1965960"/>
            <a:ext cx="73152" cy="16276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1" name="Shape 16"/>
          <p:cNvSpPr/>
          <p:nvPr/>
        </p:nvSpPr>
        <p:spPr>
          <a:xfrm>
            <a:off x="8686800" y="2258568"/>
            <a:ext cx="777240" cy="777240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22" name="Image 3" descr="/home/claude/icons/m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110" y="2452878"/>
            <a:ext cx="388620" cy="3886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28632" y="225856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 Cavalcante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628632" y="2642616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686800" y="304495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preditivos e análise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2715768" y="3867912"/>
            <a:ext cx="3502152" cy="1627632"/>
          </a:xfrm>
          <a:prstGeom prst="rect">
            <a:avLst/>
          </a:prstGeom>
          <a:solidFill>
            <a:srgbClr val="22335A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15768" y="3867912"/>
            <a:ext cx="73152" cy="16276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8" name="Shape 22"/>
          <p:cNvSpPr/>
          <p:nvPr/>
        </p:nvSpPr>
        <p:spPr>
          <a:xfrm>
            <a:off x="3008376" y="4160520"/>
            <a:ext cx="777240" cy="777240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29" name="Image 4" descr="/home/claude/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2686" y="4354830"/>
            <a:ext cx="388620" cy="3886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50208" y="41605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Isadora Cândido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3950208" y="4544568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&amp; DOCUMENTAÇÃO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3008376" y="4946904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Pesquisa, documentos e apresentação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501384" y="3867912"/>
            <a:ext cx="3502152" cy="1627632"/>
          </a:xfrm>
          <a:prstGeom prst="rect">
            <a:avLst/>
          </a:prstGeom>
          <a:solidFill>
            <a:srgbClr val="22335A"/>
          </a:solidFill>
          <a:ln/>
          <a:effectLst>
            <a:outerShdw sx="100000" sy="100000" kx="0" ky="0" algn="bl" rotWithShape="0" blurRad="114300" dist="38100" dir="8100000">
              <a:srgbClr val="0A1428">
                <a:alpha val="2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501384" y="3867912"/>
            <a:ext cx="73152" cy="16276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5" name="Shape 28"/>
          <p:cNvSpPr/>
          <p:nvPr/>
        </p:nvSpPr>
        <p:spPr>
          <a:xfrm>
            <a:off x="6793992" y="4160520"/>
            <a:ext cx="777240" cy="777240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36" name="Image 5" descr="/home/claude/icons/f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8302" y="4354830"/>
            <a:ext cx="388620" cy="3886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735824" y="41605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Nicollas da Silva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7735824" y="4544568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&amp; DOCUMENTAÇÃO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6793992" y="4946904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Pesquisa, documentos e apresentação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113230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wav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AONDE QUEREMOS CHEGAR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Esperados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68680" y="2286000"/>
            <a:ext cx="566928" cy="566928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6" name="Image 1" descr="/home/claude/icons/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427732"/>
            <a:ext cx="283464" cy="2834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232257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Mensurar o </a:t>
            </a:r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 consumo</a:t>
            </a:r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antidepressivos no período pós-pandemia.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68680" y="3127248"/>
            <a:ext cx="566928" cy="566928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9" name="Image 2" descr="/home/claude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268980"/>
            <a:ext cx="283464" cy="2834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5920" y="3163824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Traçar o </a:t>
            </a:r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demográfico e socioeconômico</a:t>
            </a:r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principais usuários.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868680" y="3968496"/>
            <a:ext cx="566928" cy="566928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12" name="Image 3" descr="/home/claude/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4110228"/>
            <a:ext cx="283464" cy="2834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5920" y="40050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 </a:t>
            </a:r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 futuras</a:t>
            </a:r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consumo com modelos preditivos.</a:t>
            </a:r>
            <a:endParaRPr lang="en-US" sz="1700" dirty="0"/>
          </a:p>
        </p:txBody>
      </p:sp>
      <p:sp>
        <p:nvSpPr>
          <p:cNvPr id="14" name="Shape 8"/>
          <p:cNvSpPr/>
          <p:nvPr/>
        </p:nvSpPr>
        <p:spPr>
          <a:xfrm>
            <a:off x="868680" y="4809744"/>
            <a:ext cx="566928" cy="566928"/>
          </a:xfrm>
          <a:prstGeom prst="ellipse">
            <a:avLst/>
          </a:prstGeom>
          <a:solidFill>
            <a:srgbClr val="2C4068"/>
          </a:solidFill>
          <a:ln/>
        </p:spPr>
      </p:sp>
      <p:pic>
        <p:nvPicPr>
          <p:cNvPr id="15" name="Image 4" descr="/home/claude/icons/powerb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" y="4951476"/>
            <a:ext cx="283464" cy="28346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45920" y="48463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</a:t>
            </a:r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interativos</a:t>
            </a:r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apoiem decisões em </a:t>
            </a:r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pública</a:t>
            </a:r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7" name="Shape 10"/>
          <p:cNvSpPr/>
          <p:nvPr/>
        </p:nvSpPr>
        <p:spPr>
          <a:xfrm>
            <a:off x="868680" y="5943600"/>
            <a:ext cx="3108960" cy="0"/>
          </a:xfrm>
          <a:prstGeom prst="line">
            <a:avLst/>
          </a:prstGeom>
          <a:noFill/>
          <a:ln w="12700">
            <a:solidFill>
              <a:srgbClr val="8FA8D8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86868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 •  Projeto de Big Data — Uso de Antidepressivos Pós-Pandemia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113230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Uso de Antidepressivos Pós-Pandemia</dc:title>
  <dc:subject>PptxGenJS Presentation</dc:subject>
  <dc:creator>Equipe Big Data</dc:creator>
  <cp:lastModifiedBy>Equipe Big Data</cp:lastModifiedBy>
  <cp:revision>1</cp:revision>
  <dcterms:created xsi:type="dcterms:W3CDTF">2026-05-25T23:28:29Z</dcterms:created>
  <dcterms:modified xsi:type="dcterms:W3CDTF">2026-05-25T23:28:29Z</dcterms:modified>
</cp:coreProperties>
</file>